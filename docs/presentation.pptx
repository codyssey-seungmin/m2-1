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d401b09714ae8" /><Relationship Type="http://schemas.openxmlformats.org/officeDocument/2006/relationships/extended-properties" Target="/docProps/app.xml" Id="Rdae28403d03d4362" /><Relationship Type="http://schemas.openxmlformats.org/officeDocument/2006/relationships/officeDocument" Target="/ppt/presentation.xml" Id="Ref107f73d59543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672dea2374a66"/>
  </p:sldMasterIdLst>
  <p:notesMasterIdLst>
    <p:notesMasterId xmlns:r="http://schemas.openxmlformats.org/officeDocument/2006/relationships" r:id="Rb426cb9860ee4f11"/>
  </p:notesMasterIdLst>
  <p:sldIdLst>
    <p:sldId xmlns:r="http://schemas.openxmlformats.org/officeDocument/2006/relationships" id="256" r:id="R2256ec7c899e4941"/>
    <p:sldId xmlns:r="http://schemas.openxmlformats.org/officeDocument/2006/relationships" id="257" r:id="Rfb33fdd704084703"/>
    <p:sldId xmlns:r="http://schemas.openxmlformats.org/officeDocument/2006/relationships" id="258" r:id="Ra7008071e63e40c6"/>
    <p:sldId xmlns:r="http://schemas.openxmlformats.org/officeDocument/2006/relationships" id="259" r:id="Rc62c6be1f1604b90"/>
    <p:sldId xmlns:r="http://schemas.openxmlformats.org/officeDocument/2006/relationships" id="260" r:id="Rd2642cd253a440f2"/>
    <p:sldId xmlns:r="http://schemas.openxmlformats.org/officeDocument/2006/relationships" id="261" r:id="R5af67fb877c14eac"/>
    <p:sldId xmlns:r="http://schemas.openxmlformats.org/officeDocument/2006/relationships" id="262" r:id="Rdc02a526ebde4975"/>
    <p:sldId xmlns:r="http://schemas.openxmlformats.org/officeDocument/2006/relationships" id="263" r:id="R995590c9bfa24df1"/>
    <p:sldId xmlns:r="http://schemas.openxmlformats.org/officeDocument/2006/relationships" id="264" r:id="Rb6bb443367334e94"/>
    <p:sldId xmlns:r="http://schemas.openxmlformats.org/officeDocument/2006/relationships" id="265" r:id="R5e45eda7299748af"/>
    <p:sldId xmlns:r="http://schemas.openxmlformats.org/officeDocument/2006/relationships" id="266" r:id="Rd16747bac6b44656"/>
    <p:sldId xmlns:r="http://schemas.openxmlformats.org/officeDocument/2006/relationships" id="267" r:id="R4f10e74a0be0471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a54591078a4425" /><Relationship Type="http://schemas.openxmlformats.org/officeDocument/2006/relationships/slideMaster" Target="/ppt/slideMasters/slideMaster1.xml" Id="Rfd0672dea2374a66" /><Relationship Type="http://schemas.openxmlformats.org/officeDocument/2006/relationships/notesMaster" Target="/ppt/notesMasters/notesMaster1.xml" Id="Rb426cb9860ee4f11" /><Relationship Type="http://schemas.openxmlformats.org/officeDocument/2006/relationships/presProps" Target="/ppt/presProps.xml" Id="R9e718048965b4f07" /><Relationship Type="http://schemas.openxmlformats.org/officeDocument/2006/relationships/viewProps" Target="/ppt/viewProps.xml" Id="R738aec6ae8534a11" /><Relationship Type="http://schemas.openxmlformats.org/officeDocument/2006/relationships/tableStyles" Target="/ppt/tableStyles.xml" Id="Re239236922f54a1e" /><Relationship Type="http://schemas.openxmlformats.org/officeDocument/2006/relationships/slide" Target="/ppt/slides/slide1.xml" Id="R2256ec7c899e4941" /><Relationship Type="http://schemas.openxmlformats.org/officeDocument/2006/relationships/slide" Target="/ppt/slides/slide2.xml" Id="Rfb33fdd704084703" /><Relationship Type="http://schemas.openxmlformats.org/officeDocument/2006/relationships/slide" Target="/ppt/slides/slide3.xml" Id="Ra7008071e63e40c6" /><Relationship Type="http://schemas.openxmlformats.org/officeDocument/2006/relationships/slide" Target="/ppt/slides/slide4.xml" Id="Rc62c6be1f1604b90" /><Relationship Type="http://schemas.openxmlformats.org/officeDocument/2006/relationships/slide" Target="/ppt/slides/slide5.xml" Id="Rd2642cd253a440f2" /><Relationship Type="http://schemas.openxmlformats.org/officeDocument/2006/relationships/slide" Target="/ppt/slides/slide6.xml" Id="R5af67fb877c14eac" /><Relationship Type="http://schemas.openxmlformats.org/officeDocument/2006/relationships/slide" Target="/ppt/slides/slide7.xml" Id="Rdc02a526ebde4975" /><Relationship Type="http://schemas.openxmlformats.org/officeDocument/2006/relationships/slide" Target="/ppt/slides/slide8.xml" Id="R995590c9bfa24df1" /><Relationship Type="http://schemas.openxmlformats.org/officeDocument/2006/relationships/slide" Target="/ppt/slides/slide9.xml" Id="Rb6bb443367334e94" /><Relationship Type="http://schemas.openxmlformats.org/officeDocument/2006/relationships/slide" Target="/ppt/slides/slide10.xml" Id="R5e45eda7299748af" /><Relationship Type="http://schemas.openxmlformats.org/officeDocument/2006/relationships/slide" Target="/ppt/slides/slide11.xml" Id="Rd16747bac6b44656" /><Relationship Type="http://schemas.openxmlformats.org/officeDocument/2006/relationships/slide" Target="/ppt/slides/slide12.xml" Id="R4f10e74a0be047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6a7f55385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f473c7804b496b" /><Relationship Type="http://schemas.openxmlformats.org/officeDocument/2006/relationships/notesMaster" Target="/ppt/notesMasters/notesMaster1.xml" Id="R45717849cdd6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6266b3dad498a" /><Relationship Type="http://schemas.openxmlformats.org/officeDocument/2006/relationships/notesMaster" Target="/ppt/notesMasters/notesMaster1.xml" Id="R3f6194c47c64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48da05e714694" /><Relationship Type="http://schemas.openxmlformats.org/officeDocument/2006/relationships/notesMaster" Target="/ppt/notesMasters/notesMaster1.xml" Id="R4a831cdd14b1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d021c95e24c7d" /><Relationship Type="http://schemas.openxmlformats.org/officeDocument/2006/relationships/notesMaster" Target="/ppt/notesMasters/notesMaster1.xml" Id="R038885db15434c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69438d1b01427a" /><Relationship Type="http://schemas.openxmlformats.org/officeDocument/2006/relationships/notesMaster" Target="/ppt/notesMasters/notesMaster1.xml" Id="Rc1f7bbabb3e44d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2d8e15b4b04103" /><Relationship Type="http://schemas.openxmlformats.org/officeDocument/2006/relationships/notesMaster" Target="/ppt/notesMasters/notesMaster1.xml" Id="Rb2d0cebc10b1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3f8d5b48b4b5b" /><Relationship Type="http://schemas.openxmlformats.org/officeDocument/2006/relationships/notesMaster" Target="/ppt/notesMasters/notesMaster1.xml" Id="R1bf9b562113245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ce07be9e844475" /><Relationship Type="http://schemas.openxmlformats.org/officeDocument/2006/relationships/notesMaster" Target="/ppt/notesMasters/notesMaster1.xml" Id="Rc365928783364d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c7345d6825492a" /><Relationship Type="http://schemas.openxmlformats.org/officeDocument/2006/relationships/notesMaster" Target="/ppt/notesMasters/notesMaster1.xml" Id="R32cf6657f7664c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e6585961f946a7" /><Relationship Type="http://schemas.openxmlformats.org/officeDocument/2006/relationships/notesMaster" Target="/ppt/notesMasters/notesMaster1.xml" Id="Rfe5aad68c3a34c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b9783f8f9f48e0" /><Relationship Type="http://schemas.openxmlformats.org/officeDocument/2006/relationships/notesMaster" Target="/ppt/notesMasters/notesMaster1.xml" Id="Ra6c946a88f8946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5e130ba1f748a7" /><Relationship Type="http://schemas.openxmlformats.org/officeDocument/2006/relationships/notesMaster" Target="/ppt/notesMasters/notesMaster1.xml" Id="Rb25f07b631be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 팀은 감정 기록 앱의 가장 큰 공백에서 시작했습니다.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감정에 이름을 붙이는 것까지는 많은 앱이 합니다. 하지만 "그래서 지금 무엇을 하면 되는지"에 출처를 붙여 답하는 서비스는 없었습니다.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세 가지입니다. 감정 판정은 검증 가능해야 하고, 추천에는 출처가 있어야 하고, 개인화는 동의 위에서만 이뤄져야 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요구는 2개 이상이었고, 저희는 4개를 구현하고 각각 테스트 증거를 남겼습니다.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docs/사용자테스트기록지.md, docs/피드백기록.md, docs/결과보고서.md 6절. 원본 CSV 8건에서 시험 응답 1건을 제외하고 집계함.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구현하지 못한 것을 구현한 것처럼 말하지 않는 것도 저희 팀의 원칙이었습니다. 이 장은 30초 안에 끝냅니다.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없이 제출되는 자료이므로 서비스 주소, 소스 코드, 시연 영상 위치를 마지막 장에 함께 표시함.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39c31881f448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014f8dac004535" /><Relationship Type="http://schemas.openxmlformats.org/officeDocument/2006/relationships/slideLayout" Target="/ppt/slideLayouts/slideLayout1.xml" Id="R394c0be19c0b44f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4c0be19c0b44f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dc27837ba476f" /><Relationship Type="http://schemas.openxmlformats.org/officeDocument/2006/relationships/image" Target="/ppt/media/image.png" Id="Rd7f0abdb060744c1" /><Relationship Type="http://schemas.openxmlformats.org/officeDocument/2006/relationships/notesSlide" Target="/ppt/notesSlides/notesSlide1.xml" Id="Rbf8efd2343b0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b6ca72b7c410d" /><Relationship Type="http://schemas.openxmlformats.org/officeDocument/2006/relationships/notesSlide" Target="/ppt/notesSlides/notesSlide2.xml" Id="Rbac544bce5c144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9ac8c00834317" /><Relationship Type="http://schemas.openxmlformats.org/officeDocument/2006/relationships/notesSlide" Target="/ppt/notesSlides/notesSlide3.xml" Id="R1e2bdd40e6a3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9708780174b3d" /><Relationship Type="http://schemas.openxmlformats.org/officeDocument/2006/relationships/image" Target="/ppt/media/image2.png" Id="Rce64c2f5d8944637" /><Relationship Type="http://schemas.openxmlformats.org/officeDocument/2006/relationships/notesSlide" Target="/ppt/notesSlides/notesSlide4.xml" Id="Re21dbe0f4cdd4a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56bb2a4545b0" /><Relationship Type="http://schemas.openxmlformats.org/officeDocument/2006/relationships/notesSlide" Target="/ppt/notesSlides/notesSlide5.xml" Id="R7e8a83804465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7ba249d71439b" /><Relationship Type="http://schemas.openxmlformats.org/officeDocument/2006/relationships/notesSlide" Target="/ppt/notesSlides/notesSlide6.xml" Id="R924ed2c5dcb7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025c5457405b" /><Relationship Type="http://schemas.openxmlformats.org/officeDocument/2006/relationships/image" Target="/ppt/media/image3.png" Id="Racad51bf92694ee2" /><Relationship Type="http://schemas.openxmlformats.org/officeDocument/2006/relationships/notesSlide" Target="/ppt/notesSlides/notesSlide7.xml" Id="R6584848b08fa4f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4f081e3c8434b" /><Relationship Type="http://schemas.openxmlformats.org/officeDocument/2006/relationships/image" Target="/ppt/media/image4.png" Id="R92c40242dc0148e1" /><Relationship Type="http://schemas.openxmlformats.org/officeDocument/2006/relationships/image" Target="/ppt/media/image5.png" Id="R4ea68ee50b9a41ab" /><Relationship Type="http://schemas.openxmlformats.org/officeDocument/2006/relationships/notesSlide" Target="/ppt/notesSlides/notesSlide8.xml" Id="R1b5c3806df1748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f0e9d8454b58" /><Relationship Type="http://schemas.openxmlformats.org/officeDocument/2006/relationships/notesSlide" Target="/ppt/notesSlides/notesSlide9.xml" Id="R1833a983016e4b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3027962aa43ba" /><Relationship Type="http://schemas.openxmlformats.org/officeDocument/2006/relationships/notesSlide" Target="/ppt/notesSlides/notesSlide10.xml" Id="Rc188b127d19848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ee68b28d3464e" /><Relationship Type="http://schemas.openxmlformats.org/officeDocument/2006/relationships/notesSlide" Target="/ppt/notesSlides/notesSlide11.xml" Id="R82a2ea4d1318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89b5c9c5148fe" /><Relationship Type="http://schemas.openxmlformats.org/officeDocument/2006/relationships/image" Target="/ppt/media/image6.png" Id="R9c48e520f5b24468" /><Relationship Type="http://schemas.openxmlformats.org/officeDocument/2006/relationships/image" Target="/ppt/media/image7.png" Id="Rc3c8e5bb9c4e41da" /><Relationship Type="http://schemas.openxmlformats.org/officeDocument/2006/relationships/notesSlide" Target="/ppt/notesSlides/notesSlide12.xml" Id="R6c98d56710e7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6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D8FEE8-DDA0-4760-87FA-FC1DEF2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Mindily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D07C6C-1C13-4A4A-978D-028AEA5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BFC9E8"/>
                </a:solidFill>
                <a:latin typeface="Malgun Gothic"/>
                <a:ea typeface="Malgun Gothic"/>
                <a:cs typeface="Malgun Gothic"/>
              </a:rPr>
              <a:t>감정을 기록에서 끝내지 않는 AI 감정 코치</a:t>
            </a:r>
            <a:endParaRPr sz="1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88F728-A114-411C-852D-D34D185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78892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3C72"/>
          </a:solidFill>
          <a:ln xmlns:a="http://schemas.openxmlformats.org/drawingml/2006/main" w="12700">
            <a:solidFill>
              <a:srgbClr val="2B3C7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A887B4-78E4-4B0A-AE01-BAF9460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2788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7DEF4"/>
                </a:solidFill>
                <a:latin typeface="Malgun Gothic"/>
                <a:ea typeface="Malgun Gothic"/>
                <a:cs typeface="Malgun Gothic"/>
              </a:rPr>
              <a:t>코디세이 AI 네이티브 Final Project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EB23E8-9A17-45BA-ABE4-FBFE768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10128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팀원 3인 · 김다빈(기획/UX) · 김진아(개발) · 안승민(검증/문서)</a:t>
            </a:r>
            <a:endParaRPr sz="12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abdb060744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457200"/>
            <a:ext cx="2057400" cy="4224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15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E7D1C4-BB55-4CE7-BDC4-3A94FEA4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기록형 앱과 위로형 챗봇 사이가 비어 있습니다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01ACC1-2CEC-43F4-A450-B5FC54B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문제 정의 — 팀이 직접 사용해 보며 확인한 공백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DCAF66-6DB1-4567-AC07-B7BB9B0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D19D40-1E5B-403C-A148-C3B41EC6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기록형 감정 앱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3DADF6-1ABB-4F02-85E5-8F250E03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“그래서 지금 뭘 해야 하죠?”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0D88C1-C4CF-448D-BAEC-EF393CDE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감정에 이름은 붙여주지만 그 다음 행동으로 이어지지 않는다. 그래프만 쌓인다.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BC42E04-D1E5-4E24-AAB8-399D664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6DC"/>
          </a:solidFill>
          <a:ln xmlns:a="http://schemas.openxmlformats.org/drawingml/2006/main" w="12700">
            <a:solidFill>
              <a:srgbClr val="FBE6D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265AD1-6FE6-47E6-9B0B-9576E2B4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위로형 챗봇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04B33D-E6F0-448B-A1CC-526F688D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“이게 나한테 맞는 말인가요?”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64236A-1076-4A3B-8E12-35184AF0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문장은 따뜻하지만 근거가 없다. 지어낸 조언인지 확인할 방법이 없다.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D114FB-ED08-42ED-8574-1F1A5BC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63040"/>
            <a:ext cx="26060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E9F3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358533-6352-49CC-80C6-3BE7B124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91640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Mindily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317001-9482-48D9-BAE6-E25B54EA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57400"/>
            <a:ext cx="2103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“근거가 있는 다음 한 걸음”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EEF7FC-342C-4DD9-A158-26E5E2C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743200"/>
            <a:ext cx="21031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검증 가능한 분류 점수 + 출처가 붙은 활동. 최종 판단은 사용자에게 남긴다.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444655E-6CB8-4891-BC5A-5698CE7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시장 규모 통계는 인용하지 않습니다. 팀이 직접 관찰한 문제만 이야기합니다.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59703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A8BE9E-A008-4ABC-9C94-F6CC229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발표 전날 밤, 잠이 오지 않는 사람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0C61A5-1E63-47F6-A8A3-39BC8D1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타겟 사용자와 사용 시나리오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BC5A89-5726-4F5B-9652-7FAF01B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834640" cy="283464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CEAFB"/>
          </a:solidFill>
          <a:ln xmlns:a="http://schemas.openxmlformats.org/drawingml/2006/main" w="12700">
            <a:solidFill>
              <a:srgbClr val="ECEAF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C151C9-551A-4B56-A163-9010689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페르소나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7985DB-3EA8-4684-90A5-F172EC5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286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29세 직장인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4AD865-5B58-415A-9130-BF5E434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밤 11시, 내일 발표가 걱정된다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상담은 부담스럽고 시간도 없다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“괜찮아요” 한마디로는 부족하다</a:t>
            </a:r>
            <a:endParaRPr sz="115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지금 10분 안에 할 것이 필요하다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7AB5BF-8C34-4F0F-AF16-3FAE9DA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81328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7E1BE42-BC75-4C68-8550-FA9923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7007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C4851D-E5D2-43E8-902A-B576EF2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7007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87908D-9C2D-4330-8229-B2F9661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664208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일기 한 문장 쓰기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16A20E6-4F2C-4F60-9B99-E8F69A99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81328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8B9B5B1-B9AC-4ECB-A6A3-211CFD2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7007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841EDF-0A61-4CAB-900A-4C5D2172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7007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AD3BD91-6D0F-4F5D-8D0B-C0478A1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664208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KcELECTRA 감정 분류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2A60C8-E443-4DEB-8D3C-91E9C7B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2304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4E84FD-FB57-4416-A623-34A246B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65176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E32637C-A99F-419D-8147-A7A28A23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65176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6460BF-0684-4AD2-A834-FE6639E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615184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무드 미터에서 직접 확정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298731B-1B9B-4380-835D-A5C8AFB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32304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9FF99EF-D0E4-4356-905E-1A8311A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65176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AB83EE-D2C4-4E58-B9B5-BA23C008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65176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A62D28-9AF5-411E-8382-906FC8B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2615184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출처 접지 코치 문장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49846BE-B776-48FD-9976-685CA47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83280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C4064B5-5D9C-4B08-A8C1-38E1756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6027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C0E155-6571-4C97-B97F-C12C4FD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6027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A5E6D1-A993-4714-A49B-CA5F8AD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566160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활동 탭에서 바로 실행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280ADFD-1528-41C0-909C-44E918A0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24231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ACDE973-98F2-4BCD-A164-5D5D22E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3B865F4-C189-4681-8490-83218A1C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027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2D6EE47-8B2C-49DF-8A50-214B7C1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566160"/>
            <a:ext cx="1691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(동의 시) 선호 기억</a:t>
            </a:r>
            <a:endParaRPr sz="11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A6F6BDB-2614-4252-971A-159B4D46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대표 입력: “내일 발표를 잘할 수 있을지 걱정돼요.” 앱은 분석에서 활동 실행까지 한 흐름으로 연결합니다.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1657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E1DCAE-F701-4A95-8740-EE31663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판정은 분류 모델, 표현은 생성형 AI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6EAD07-8B21-41E0-B74D-95942CF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해결 설계 한 장 요약 — 굵은 주황 테두리가 생성형 AI 경로</a:t>
            </a:r>
            <a:endParaRPr sz="1300"/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4c2f5d894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234440"/>
            <a:ext cx="8010144" cy="324612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D493D4F-E483-4BC5-B93B-0F04CBF6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일반 코치 생성에는 감정 라벨·스트레스·출처 카드만 전달됩니다. 정리·보고서 초안은 별도 동의가 있을 때만 원문을 사용합니다.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611058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E7346F-A307-4C7E-B65C-3823697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무엇을 썼는가보다, 왜 그것을 골랐는가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CE64CF-6F12-4247-A471-18F4B7A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기술적 의사결정 근거</a:t>
            </a:r>
            <a:endParaRPr sz="130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02920" y="141732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920240"/>
                <a:gridCol w="393192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택하지 않은 대안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이것을 골랐나</a:t>
                      </a:r>
                      <a:endParaRPr sz="11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감정 판정 = 전용 분류 모델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LLM에게 감정 추정 요청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점수·모델 리비전을 공개할 수 있어 검증 가능. LLM 추정은 근거 제시 불가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감정 표현 = 생성형 AI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기반 템플릿만 사용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공감 문장의 자연스러움은 생성형이 우위. 단 출처 밖으로 못 나가게 제한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LLM에 일기 원문 미전송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전달로 공감도 향상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민감한 기록. 라벨·출처 카드만으로 품질 확보하고 유출 경로를 제거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실패 시 자동 폴백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화면 노출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API 장애가 서비스 중단이 되지 않게. 경로는 generation 필드로 항상 공개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선호 기억 30일 만료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6C789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무기한 보관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개인화와 보호를 동시에 증명. 동의 거부해도 핵심 기능은 그대로</a:t>
                      </a:r>
                      <a:endParaRPr sz="105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2AB0D6-6DAA-4983-BCD7-E800DA86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판정은 검증 가능한 분류 모델에, 표현은 생성형 AI에 맡겼습니다. 일반 코치 문장은 검색된 출처 안에서만 생성합니다.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9064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5CDF1E-8AE6-4C93-9EC9-6A4DC975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요구는 2개, 구현은 4개 — 각각 증거 파일까지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CF5914-5646-47D3-8D88-17D81F2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② 필수 기술 요소와 생성형 AI 3중 안전장치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499B2F-50B0-48A6-BC89-3EBFCB7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0"/>
            <a:ext cx="8138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검증 증거는 모두 evidence/ 폴더에 있습니다.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290828-3CF8-4E6A-8C0A-0F17469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8DE628-B186-4873-A4D6-D563215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361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AI Agent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33F70D-7293-482D-9BBD-26BBEA3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coach_agent.py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724FFA-2661-4909-90FD-71EFC8D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의도 판별 → 도구 순차 호출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5660AB-D0A7-497E-BEE2-A03E446A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75688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agent-check.json</a:t>
            </a:r>
            <a:endParaRPr sz="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A66BD5-B5B1-40FC-8814-C5193BB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E9F3E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33C0D3-B394-45AB-A969-ED4D87B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5361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RAG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C7F9B9B-9116-4816-B633-772457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28800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rag.py · healing_knowledge.py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6208AF-9509-4C45-B607-CD14C81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57400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근거 검색 · 출처 부착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C2FB2A-1D6C-4A0F-80FE-AA9835AA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75688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rag-check.json</a:t>
            </a:r>
            <a:endParaRPr sz="7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203E3A-5BCC-462F-8119-31C4AEA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24328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FBE6DC"/>
          </a:solidFill>
          <a:ln xmlns:a="http://schemas.openxmlformats.org/drawingml/2006/main" w="12700">
            <a:solidFill>
              <a:srgbClr val="FBE6D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1972869-ED32-4FC0-8F6A-5E221CA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생성형 AI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C86C76-9DB5-4FC4-94DE-1E0AEFF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llm.py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C8BDA51-BCA4-4F22-A593-B16BC4ED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6440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출처 접지 생성 · 안전 필터 · 폴백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F80B230-B4AB-4995-9CC8-56FE1D0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282696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llm-check.json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2D39F66-5D46-4B73-BE3C-E9E8CF8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24328"/>
            <a:ext cx="3977640" cy="1042416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CEAFB"/>
          </a:solidFill>
          <a:ln xmlns:a="http://schemas.openxmlformats.org/drawingml/2006/main" w="12700">
            <a:solidFill>
              <a:srgbClr val="ECEAF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00E6C9-A492-49B2-B451-F49056C4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43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Long-term Memory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2CD672-706D-40C4-821D-E720816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035808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memory_db.py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AC78DEF-06CB-4108-B5E4-0158DCED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26440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동의 저장 · 30일 만료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5C42E1A-782A-4B6B-B538-510233C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82696"/>
            <a:ext cx="1143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memory-retention-check.json</a:t>
            </a:r>
            <a:endParaRPr sz="7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94C71A-3D48-4E59-8575-C0AB824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86200"/>
            <a:ext cx="8138160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2B47B4-62ED-483A-8811-4407E4C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6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생성형 AI 3중 제한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FB15E0D-8F2F-4914-AFDF-6B6E5379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입력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0475992-F8B3-48F4-A4A8-3D7C1DC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일반 코치: 출처 카드 3장만 · 원문 미전송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5CF5A04-CC58-4BF8-BF96-DC79A3F3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지시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747C193-FD70-4F87-BB66-25AEC5F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카드 밖 활동·진단·단정 금지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F0B8894-D908-4E67-80A7-C169276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986784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26FCF"/>
                </a:solidFill>
                <a:latin typeface="Malgun Gothic"/>
                <a:ea typeface="Malgun Gothic"/>
                <a:cs typeface="Malgun Gothic"/>
              </a:rPr>
              <a:t>출력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04F99A8-33F6-4E7B-BD0E-77CD252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0624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금지어 검출 시 폐기 후 폴백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85254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399052-CA02-4B50-871E-53868AA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실측 ① 일기 한 문장 → 실제 모델 추론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67F017-2052-4259-9585-AE689CE4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해결 과정 — 미리 넣어둔 값이 아닙니다</a:t>
            </a:r>
            <a:endParaRPr sz="13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d51bf92694e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98448"/>
            <a:ext cx="1572768" cy="3236976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25247D-0F60-4BCF-A768-68298AC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25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00DBA12-216E-475F-A6B4-5FD4C7E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444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6개 감정 분류 점수를 레이더로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E2557FA-2F9D-46ED-9EE2-C8E4694F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28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한 감정에 쏠려도 도형이 무너지지 않도록 제곱근 축과 최소 반지름을 적용하고, 정확한 값은 꼭짓점 숫자로 함께 표시합니다.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6C544B-6124-43B7-840C-B9EDE60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468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9BCE48-963F-4A12-941B-219A33A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87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불안 0.941 (evidence/api-check.json)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EB5B013-F49B-4DCE-BC30-71DB5FD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71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실측값입니다. 128토큰을 넘는 긴 글은 청크로 나눠 추론한 뒤 토큰 수로 가중 평균하므로 점수가 낮아집니다(0.437) — 오작동이 아닙니다.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B755FB-9D96-4CBC-8B59-6C84B87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611880"/>
            <a:ext cx="6217920" cy="987552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AAED5BF-01A3-4F56-A00A-D87891D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730752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화면에 명시한 한 줄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DCC5540-C8FB-484E-A5EB-A4DE33A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14216"/>
            <a:ext cx="5760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“합쳐서 100%가 되는 비율이나 진단 결과가 아니에요.” 점수를 확률처럼 읽지 않도록 안내합니다.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FFB89C6-DBEC-45FC-AB45-DCDCD42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측정 근거: evidence/api-check.json에 입력·응답·모델 리비전과 청크 수를 함께 보관했습니다.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8542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147707-CBE6-411F-BE20-7799F68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실측 ② 출처가 붙은 위로와 활동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DAD1EF-684A-409E-81F2-E2D0D24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① 해결 과정 — 최종 결정권은 사용자에게</a:t>
            </a:r>
            <a:endParaRPr sz="13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40242dc0148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34440"/>
            <a:ext cx="1709928" cy="3520440"/>
          </a:xfrm>
          <a:prstGeom xmlns:a="http://schemas.openxmlformats.org/drawingml/2006/main" prst="rect">
            <a:avLst/>
          </a:prstGeom>
        </p:spPr>
      </p:pic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68ee50b9a41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5728" y="1234440"/>
            <a:ext cx="1709928" cy="3520440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7F7A1B6-3538-4088-A1D4-79882C4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234440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저작권 만료 작품만 인용</a:t>
            </a:r>
            <a:endParaRPr sz="1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570547F-265E-43BA-AF19-0BECC903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99616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세네카·윤동주·한용운·노자 등 저작권이 만료된 글만 씁니다. 노래 가사는 저작권 때문에 쓰지 않았습니다.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4843F15-AE1D-43A2-B020-0A04A84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39696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꽃과 향은 효능을 주장하지 않음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75E36F0-8B0B-41E9-8DE5-DC4308F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40487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“좋아진다”가 아니라 “곁에 두면 좋은 것”으로만 제안하고 알레르기 안내를 항상 붙입니다.</a:t>
            </a:r>
            <a:endParaRPr sz="1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C08E2DE-649D-4D3B-B994-5AFCA696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44952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링크 대신 앱 안에서 바로</a:t>
            </a:r>
            <a:endParaRPr sz="1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19605A2-6DB1-4A23-AFC8-2A76BFD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310128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활동을 탭으로 나누고 5단계 안내를 앱 안에 넣었습니다. 파도·비는 출처와 CC BY 조건을 표시한 실제 음원이며, 바람만 브라우저에서 합성합니다.</a:t>
            </a:r>
            <a:endParaRPr sz="10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6D0C4FF-DB16-429B-9715-64254C0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950208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모델 제안과 사용자 확정값은 별도 저장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2DD01AB-5DA5-4B80-9FD3-3919CD5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1538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모델이 ‘불안’이라 해도 사용자가 바꾸면 덮어쓰지 않고 따로 기록합니다.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1384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E329B6-61C7-4A8A-B823-5D474641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체크 표시는 실제로 확인한 항목에만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BA7AD5-AA34-4165-8366-46CEC1E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③ 검증 — 미완료 항목도 문서에 그대로 남겼습니다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5C8CDB-B3C6-4EBC-88D5-BC48BE10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2C4574-D66B-40AA-AD68-63B6115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A35463-4D3A-43A4-88F1-FF9123AF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핵심 AI 요소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161970-998F-4627-BF6D-1F9DF3B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E36EF03-F7BE-4B86-9DB5-96C20BE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sz="3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4AECE4C-66DA-46DF-88D8-67D4662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검증 증거 파일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660B817-1A3A-4377-8321-4A1291A1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7F7C8F6-B221-430D-863B-8AF975B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sz="3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C88470-2BF9-46C4-8372-9EFCF204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테스트 스크립트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F4AA8AB-EB73-4F99-8DEE-A148983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417320"/>
            <a:ext cx="1901952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C"/>
          </a:solidFill>
          <a:ln xmlns:a="http://schemas.openxmlformats.org/drawingml/2006/main" w="12700">
            <a:solidFill>
              <a:srgbClr val="E7EE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2A2801-14C2-4280-92BA-FCA0C975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481328"/>
            <a:ext cx="190195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3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52473D-2711-4A0B-AF81-EF88020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48256"/>
            <a:ext cx="1901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유효 평가</a:t>
            </a:r>
            <a:endParaRPr sz="1100"/>
          </a:p>
        </p:txBody>
      </p:sp>
      <p:graphicFrame>
        <p:nvGraphicFramePr>
          <p:cNvPr id="31" name="Table 0"/>
          <p:cNvGraphicFramePr/>
          <p:nvPr/>
        </p:nvGraphicFramePr>
        <p:xfrm>
          <a:off xmlns:a="http://schemas.openxmlformats.org/drawingml/2006/main" x="502920" y="256032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1097280"/>
                <a:gridCol w="512064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내용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분류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불안 0.941 · 긴 글 2청크 · 빈 입력 422 차단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Agent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analyze → recommend → retrieve 순서 확인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카드에 출처·라이선스 부착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일기 원문 미전송 · 금지어 차단 · 폴백 공개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Long-term Memory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 저장 · 30일 만료 · 재시작 후 유지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설치형 앱(PWA)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3D74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화면 설치 · 오프라인 화면 · API 무캐시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실사용자 평가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B44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✔ 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 7건 · 시험 1건 제외 · 중복 0건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63500" marR="63500" marT="63500" marB="63500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35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6EF77A-DC65-4FA5-93C6-DF5BC59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사용자 피드백과 개선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EA0F27-D2ED-4111-A17D-4CE355E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③ 참여 코드 7개 · 3문항 5점 척도 · 개선 의견 6건 분석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A9FE72-1653-4760-8B26-761F7A1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3931920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0E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864108-AC21-4844-9F02-BC3642A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90472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3문항 평균 (유효 응답 7건)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DEC3B4-021F-4F5D-A4FC-DA259D41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디자인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D3CD00F-07EC-4FA1-9D94-2B7021EE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874520"/>
            <a:ext cx="1589959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8DDCB3-F67B-4ED6-82DB-C9E22C5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828800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4.14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788CD7-93B5-45DC-8329-8C01B2F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 도움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F902827-DA34-48D2-9FA2-9FF6731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76272"/>
            <a:ext cx="1647566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A719012-5F79-43B6-9589-E15791E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30552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4.29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27E7B9-88BD-4AC4-910A-E486041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2304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계속 사용할 의향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AA35C5-B3FE-4137-A8B5-3B30FB7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78024"/>
            <a:ext cx="1536192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90EB94-11A4-4EBF-91E5-15587A9A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32304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4.00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82CA78-20B4-4085-8820-A8C065DD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34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전체 평균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0DF94C-D10F-4689-B25B-3042A07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779776"/>
            <a:ext cx="1589959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6F6"/>
          </a:solidFill>
          <a:ln xmlns:a="http://schemas.openxmlformats.org/drawingml/2006/main" w="12700">
            <a:solidFill>
              <a:srgbClr val="EFF1F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5DE3081-B3F2-40E4-B122-BBEB5A56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734056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4.14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9F3BCEB-594F-49B3-B469-C035DF85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371600"/>
            <a:ext cx="3931920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60EB97-25BF-44D6-9127-86CA774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90472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실제 의견이 바꾼 부분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1169FF-8AF3-4BAA-A0A2-7E52A51A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3474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자연 소리 2건: 파도·비를 실제 CC BY 음원으로 교체</a:t>
            </a:r>
            <a:endParaRPr sz="105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무드 미터 2건: 감정별 색상 구분 강화</a:t>
            </a:r>
            <a:endParaRPr sz="105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가독성 3건: 하단 메뉴와 홈 카드 조정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E6F35D-B953-4DFC-ADC0-6F6EBBD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4433A"/>
                </a:solidFill>
                <a:latin typeface="Malgun Gothic"/>
                <a:ea typeface="Malgun Gothic"/>
                <a:cs typeface="Malgun Gothic"/>
              </a:rPr>
              <a:t>※ 선호 활동 저장 오류 1건은 재현 조건을 확인하지 못해 미해결로 남겼습니다.</a:t>
            </a:r>
            <a:endParaRPr sz="950"/>
          </a:p>
        </p:txBody>
      </p:sp>
      <p:graphicFrame>
        <p:nvGraphicFramePr>
          <p:cNvPr id="45" name="Table 0"/>
          <p:cNvGraphicFramePr/>
          <p:nvPr/>
        </p:nvGraphicFramePr>
        <p:xfrm>
          <a:off xmlns:a="http://schemas.openxmlformats.org/drawingml/2006/main" x="502920" y="333756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666750"/>
                <a:gridCol w="3048000"/>
                <a:gridCol w="2381250"/>
                <a:gridCol w="994410"/>
              </a:tblGrid>
              <a:tr h="2095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언급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내용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172655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 소리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파도·비 실제 CC BY 음원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ef43a4f · 04e5669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무드 미터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감정별 색상 구분 강화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2068565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532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가독성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3건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하단 메뉴·홈 카드 조정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f68a061 · 4550a99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750">
                          <a:solidFill>
                            <a:srgbClr val="17264B"/>
                          </a:solidFill>
                        </a:rPr>
                        <a:t>완료</a:t>
                      </a:r>
                      <a:endParaRPr sz="100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57150" marR="57150" marT="28575" marB="28575" anchor="ctr">
                    <a:lnL w="12700" cmpd="sng">
                      <a:solidFill>
                        <a:srgbClr val="DCE0EA"/>
                      </a:solidFill>
                      <a:prstDash val="solid"/>
                    </a:lnL>
                    <a:lnR w="12700" cmpd="sng">
                      <a:solidFill>
                        <a:srgbClr val="DCE0EA"/>
                      </a:solidFill>
                      <a:prstDash val="solid"/>
                    </a:lnR>
                    <a:lnT w="12700" cmpd="sng">
                      <a:solidFill>
                        <a:srgbClr val="DCE0EA"/>
                      </a:solidFill>
                      <a:prstDash val="solid"/>
                    </a:lnT>
                    <a:lnB w="12700" cmpd="sng">
                      <a:solidFill>
                        <a:srgbClr val="DC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3CA98C1-74D6-44E1-9485-E1E8D25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원본 8건 중 시험 1건 제외 · ‘.’ 의견 1건은 점수에 포함하고 정성 분석에서만 제외했습니다.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28506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7729B-8A63-4A05-AA7A-2ED70BB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72655"/>
                </a:solidFill>
                <a:latin typeface="Malgun Gothic"/>
                <a:ea typeface="Malgun Gothic"/>
                <a:cs typeface="Malgun Gothic"/>
              </a:rPr>
              <a:t>못 한 것을 한 것처럼 말하지 않습니다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10A0A5-2CE1-4115-A071-7A4BBFF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96112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C7897"/>
                </a:solidFill>
                <a:latin typeface="Malgun Gothic"/>
                <a:ea typeface="Malgun Gothic"/>
                <a:cs typeface="Malgun Gothic"/>
              </a:rPr>
              <a:t>현재 한계와 다음 단계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FC747D-A6CF-4AB4-9C40-6DCC326C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4433A"/>
                </a:solidFill>
                <a:latin typeface="Malgun Gothic"/>
                <a:ea typeface="Malgun Gothic"/>
                <a:cs typeface="Malgun Gothic"/>
              </a:rPr>
              <a:t>현재 한계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0DA454-83CD-487C-8AC4-8E27780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3D745E"/>
                </a:solidFill>
                <a:latin typeface="Malgun Gothic"/>
                <a:ea typeface="Malgun Gothic"/>
                <a:cs typeface="Malgun Gothic"/>
              </a:rPr>
              <a:t>다음 단계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D2FB7CF-16D4-4CB1-BB3E-399F88F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92CB30-68D8-40FB-8E3A-ABB3404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232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일반 코치 응답은 감정 라벨·출처 카드만 참조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4E95E6-645A-465D-878A-CC9F480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83080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77B2D6-ABB9-407B-9896-F5785E8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56232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사용자가 명시적으로 동의한 경우에만 원문 전달 옵션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C9DCB77-1C67-4E2B-97F8-292D23A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7EE3E5-4D0D-4BA4-BDB7-8BFB9AF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무료 Space는 영구 디스크가 없어 재시작 시 초기화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AA27365-E0E8-44C0-AE2C-362049E7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32888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91C9F4-0AA1-44DE-AD41-6C43687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06040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장기 선호 저장이 필요하면 영구 디스크 검토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6A779CF-C02D-4C76-A0D9-390952AA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82696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5BC329-342E-4926-AD01-43E45EC3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55848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위치 기반 추천(러닝·근처 장소) 미구현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524FB6-10BD-44A3-9D2E-AE6324B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82696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E818F5-42D0-4315-AE59-214E974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55848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권한·지도 API 검증 후 2단계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B52F0D9-BB6E-4A73-ADF1-B348D35B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32504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F3F1"/>
          </a:solidFill>
          <a:ln xmlns:a="http://schemas.openxmlformats.org/drawingml/2006/main" w="12700">
            <a:solidFill>
              <a:srgbClr val="F3DAD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056FD6-DB8F-4110-AFB9-7CC9C16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05656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감정 6종으로 제한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614483-A0CC-4689-AA7F-3A0A8DC9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032504"/>
            <a:ext cx="397764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3E8"/>
          </a:solidFill>
          <a:ln xmlns:a="http://schemas.openxmlformats.org/drawingml/2006/main" w="12700">
            <a:solidFill>
              <a:srgbClr val="D6E7D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909381-DFCC-4F5C-93E7-D6EA898A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105656"/>
            <a:ext cx="3566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5324F"/>
                </a:solidFill>
                <a:latin typeface="Malgun Gothic"/>
                <a:ea typeface="Malgun Gothic"/>
                <a:cs typeface="Malgun Gothic"/>
              </a:rPr>
              <a:t>후속 테스트에서 감정 선택 범위 재검증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112068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6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EB3548-B22B-4D65-9BCE-FF0A0E7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7724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감정을 기록에서 끝내지 않습니다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ED8F7A-0BC5-4484-9A5A-74FC61FB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Mindily — 코디세이 AI 네이티브 Final Project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32270E-50C6-4149-9DC1-AAB6BF3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A27C0-611F-46F0-8BD1-23AE3A8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기획 / UX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FCDF1A-BADC-4684-86AD-45819DF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96596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김다빈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75006A-9714-4582-BADB-BC281C5A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6596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콘셉트 · 모바일 UI · 접근성 · 테스트 설계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3179EF-26CE-4EF0-A6E0-B56C59E6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24328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EEFBE7-9F82-4E64-89FD-7974C62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24328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개발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409A1F-5C74-4733-BEB4-4EAE74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624328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김진아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ACBC63-AC32-4317-886A-3020124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24328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모델 연동 · FastAPI · Agent/RAG/생성형/기억 · 배포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DE861D-6A6B-468D-99D0-F7EB9F9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82696"/>
            <a:ext cx="53949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315F"/>
          </a:solidFill>
          <a:ln xmlns:a="http://schemas.openxmlformats.org/drawingml/2006/main" w="12700">
            <a:solidFill>
              <a:srgbClr val="22315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B9EE25-4C37-452D-9D89-6BCBA018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8269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검증 / 문서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EA0150D-A3AD-4B42-AA64-0208DB3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282696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안승민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E37382-1EA6-45C6-84C9-5660729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282696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6CEE6"/>
                </a:solidFill>
                <a:latin typeface="Malgun Gothic"/>
                <a:ea typeface="Malgun Gothic"/>
                <a:cs typeface="Malgun Gothic"/>
              </a:rPr>
              <a:t>기능명세 · 테스트 · 유효 평가 7건 정리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455DC2-CB4C-4A21-AE19-C51EEC9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BFC9E8"/>
                </a:solidFill>
                <a:latin typeface="Malgun Gothic"/>
                <a:ea typeface="Malgun Gothic"/>
                <a:cs typeface="Malgun Gothic"/>
              </a:rPr>
              <a:t>서비스 · 소스 코드 · 시연 영상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D9D3237-7066-4D99-B39A-EF3BC2E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1051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e520f5b2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808" y="1435608"/>
            <a:ext cx="923544" cy="923544"/>
          </a:xfrm>
          <a:prstGeom xmlns:a="http://schemas.openxmlformats.org/drawingml/2006/main" prst="rect">
            <a:avLst/>
          </a:prstGeom>
        </p:spPr>
      </p:pic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293CB7A-E0CC-4049-BC90-471C6E8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0592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</a:t>
            </a:r>
            <a:endParaRPr sz="9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EEA23BB-70BB-43E0-AC42-7D18481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70048"/>
            <a:ext cx="1143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yellowmug-mindily.hf.space</a:t>
            </a:r>
            <a:endParaRPr sz="6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2E54B64-7717-459D-A15A-365FC17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371600"/>
            <a:ext cx="1051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8e5bb9c4e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9248" y="1435608"/>
            <a:ext cx="923544" cy="9235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461AC91-71B1-4CCE-9C00-FFF866BA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450592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소스 코드</a:t>
            </a:r>
            <a:endParaRPr sz="9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02DB28B-3041-4D62-A728-DD2D700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70048"/>
            <a:ext cx="1143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9AA7CE"/>
                </a:solidFill>
                <a:latin typeface="Malgun Gothic"/>
                <a:ea typeface="Malgun Gothic"/>
                <a:cs typeface="Malgun Gothic"/>
              </a:rPr>
              <a:t>github.com/codyssey-seungmin/M2-1</a:t>
            </a:r>
            <a:endParaRPr sz="6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DB1EA0-0385-4C31-B530-233062E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46120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C8AB4"/>
                </a:solidFill>
                <a:latin typeface="Malgun Gothic"/>
                <a:ea typeface="Malgun Gothic"/>
                <a:cs typeface="Malgun Gothic"/>
              </a:rPr>
              <a:t>3분 시연 영상 · 제출 파일에 포함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164499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2026-10-02T13:27:23.0770000Z</dcterms:created>
  <dcterms:modified xsi:type="dcterms:W3CDTF">2026-10-02T13:27:23.0770000Z</dcterms:modified>
</coreProperties>
</file>